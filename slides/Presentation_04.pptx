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毕业要求达成度计算平台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项目开发进度汇报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566160"/>
            <a:ext cx="39319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94183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汇报人：</a:t>
            </a:r>
            <a:r>
              <a:rPr lang="zh-CN"/>
              <a:t>钟崇</a:t>
            </a:r>
            <a:r>
              <a:rPr lang="zh-CN"/>
              <a:t>涛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94183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914400" cy="7315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90195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5623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项目开发进度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1284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技术架构 · 需求分析 · 界面设计 · 开发难点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926080"/>
            <a:ext cx="914400" cy="7315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9992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95351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疑难 Bug 与解决方案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31012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关键 Bug 排查与修复经验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023360"/>
            <a:ext cx="914400" cy="7315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09651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05079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PR-Agent 介绍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40740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AI 驱动的代码审查工具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120640"/>
            <a:ext cx="914400" cy="7315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19379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14807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项目展示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50468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系统界面演示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1828800"/>
            <a:ext cx="6705295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10312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第一章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606040"/>
            <a:ext cx="6705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项目开发进度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794760"/>
            <a:ext cx="21332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1148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需求分析 · 界面设计 · 模块完成 · 开发难点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Tech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47548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层次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技术选型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后端框架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Java 17 + Spring Boot 3.2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企业级微服务架构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ORM 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MyBatis-Plus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简化数据库操作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前端框架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Vue 3 + Vite + Element Plus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现代化 SPA 开发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Pinia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Vue 3 推荐状态管理库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MySQL 8.0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关系型数据库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认证方案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Spring Security + JWT + RBAC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无状态认证与角色权限控制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Excel 处理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Apache POI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批量数据导入导出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报表导出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Apache PDFBox + ECharts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PDF 报告与数据可视化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系统角色设计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四种角色，职责分明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560320" cy="8229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系统管理员</a:t>
            </a:r>
            <a:br/>
            <a:r>
              <a:t>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管理用户账号、基础数据字典</a:t>
            </a:r>
            <a:br/>
            <a:r>
              <a:t>（学院/专业/学期/班级）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554480"/>
            <a:ext cx="256032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7276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教务管理员</a:t>
            </a:r>
            <a:br/>
            <a:r>
              <a:t>ACADEMIC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37744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514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管理课程体系、学生名单、</a:t>
            </a:r>
            <a:br/>
            <a:r>
              <a:t>教学班级、查看看板、导出报告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256032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专业负责人</a:t>
            </a:r>
            <a:br/>
            <a:r>
              <a:t>DIRECTOR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37744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14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录入毕业要求与指标点、</a:t>
            </a:r>
            <a:br/>
            <a:r>
              <a:t>配置支撑矩阵、触发专业级计算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554480"/>
            <a:ext cx="256032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72768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主讲教师</a:t>
            </a:r>
            <a:br/>
            <a:r>
              <a:t>TEACHER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37744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514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设定课程目标、分配权重、</a:t>
            </a:r>
            <a:br/>
            <a:r>
              <a:t>配置考核点、导入成绩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636270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074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角色权限模型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基于 RBAC（基于角色的访问控制）模型，每种角色拥有独立的接口权限和页面访问权限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后端通过 @PreAuthorize 注解实现接口级权限控制，前端通过动态路由实现页面级权限校验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四种角色互不越权，确保系统数据安全与操作规范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本周完成工作概述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212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5029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管理员界面 (ADMIN)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用户管理、学院管理、</a:t>
            </a:r>
            <a:br/>
            <a:r>
              <a:t>专业管理、学期管理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3657600"/>
            <a:ext cx="18288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685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进度 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212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21208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819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教务员界面 (ACADEMIC)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课程管理、学生管理、</a:t>
            </a:r>
            <a:br/>
            <a:r>
              <a:t>班级管理、成绩管理、</a:t>
            </a:r>
            <a:br/>
            <a:r>
              <a:t>批量导入、看板、报告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3657600"/>
            <a:ext cx="18288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685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进度 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636270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646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本周重点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完成了管理员界面和教务员界面的全部前后端代码开发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本周重点关注：从需求分析出发，设计合理的角色权限模型与接口架构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需求分析：为什么需要四角色架构？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从专业认证流程推导系统设计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16230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核心需求：OBE 专业认证的业务流程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OBE（成果导向教育）专业认证要求高校提供毕业要求达成度的数据证据链：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课程目标设定 → 考核点映射 → 成绩录入 → 三级达成度计算 → 审计报告导出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这一流程涉及多个部门和角色的协作，系统必须按职责划分角色，避免数据越权和操作混乱。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74390"/>
            <a:ext cx="5212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636270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84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角色划分的依据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2368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系统管理员（ADMIN）：管理基础数据字典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学院、专业、学期、班级是所有业务的数据基础，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必须由专人维护，确保数据一致性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教务管理员（ACADEMIC）：管理教学运行数据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课程、学生、教学班级是教学活动的核心载体，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由教务部门统一管理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专业负责人（DIRECTOR）：定义认证标准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毕业要求、指标点、支撑矩阵是认证的灵魂，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需要专业负责人从学科角度定义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436620"/>
            <a:ext cx="5212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636270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43649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协作流程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56660"/>
            <a:ext cx="4846320" cy="2630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主讲教师（TEACHER）：完成微观映射与成绩录入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课程目标设定、考核点配置、成绩导入，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这些是教师对课程的直接贡献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四角色协作流程：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ADMIN 初始化基础数据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→ ACADEMIC 管理课程与学生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→ DIRECTOR 定义认证标准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→ TEACHER 配置课程并录入成绩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→ 系统自动计算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→ ACADEMIC 导出报告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管理员界面设计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从基础数据需求出发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9654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为什么管理员需要这些接口？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专业认证系统的基础是数据字典：学院、专业、学期、班级是所有业务的底座。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如果基础数据不准确，后续的课程关联、学生归属、达成度计算都会出错。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因此管理员的核心职责是保证基础数据的准确性和一致性。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521208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636270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18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用户管理接口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需求：四种角色需要独立的账号体系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用户 CRUD + 分页查询：系统可能有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数百名教师和管理人员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按角色/状态筛选：管理员需要快速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查找特定角色的账号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启用/禁用：人员变动时需要冻结账号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重置密码：解决用户忘记密码问题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@PreAuthorize 权限：防止越权操作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108960"/>
            <a:ext cx="521208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636270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18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数据字典接口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需求：基础数据必须标准化管理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学院管理：专业归属的基础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专业管理：关联学院，是课程和学生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的上层分类维度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学期管理：成绩、教学班级的时间维度，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影响达成度计算的范围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这些数据后续被课程、学生、教学班级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引用，必须先于其他模块建立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教务员界面设计（上）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从教学运行需求出发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1366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教务员的核心职责：管理教学运行数据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教务员是连接基础数据和教学活动的桥梁。教师录入成绩前，课程、学生、教学班级必须就位。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教务员的数据是达成度计算的输入源，数据质量直接决定计算结果的可信度。</a:t>
            </a:r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731520" y="2926080"/>
            <a:ext cx="33832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731520" y="6545580"/>
            <a:ext cx="33832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914400" y="30358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课程管理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914400" y="3383280"/>
            <a:ext cx="3017520" cy="315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需求：每门课程需要关联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专业和学分，这是达成度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计算的权重基础。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课程 CRUD + 分页查询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按专业关联：同专业学生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共享课程体系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代码/名称搜索：快速定位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为什么这样设计？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课程是达成度计算的核心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载体，缺少课程数据将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导致无法建立支撑矩阵。</a:t>
            </a:r>
          </a:p>
        </p:txBody>
      </p:sp>
      <p:sp>
        <p:nvSpPr>
          <p:cNvPr id="13" name="Rectangle 12"/>
          <p:cNvSpPr/>
          <p:nvPr>
            <p:custDataLst>
              <p:tags r:id="rId5"/>
            </p:custDataLst>
          </p:nvPr>
        </p:nvSpPr>
        <p:spPr>
          <a:xfrm>
            <a:off x="4389120" y="2926080"/>
            <a:ext cx="33832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4389120" y="6545580"/>
            <a:ext cx="33832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4572000" y="30358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学生信息管理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4572000" y="3383280"/>
            <a:ext cx="3017520" cy="315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需求：学生是成绩数据的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主体，需要关联专业和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入学年份。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学生 CRUD + 分页查询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按学院/专业/年份筛选：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教务员通常按批次管理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批量导入：每届数百名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学生手动录入不现实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为什么这样设计？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学生数据量大且来源固定，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批量导入是最高效的入口。</a:t>
            </a:r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8046720" y="2926080"/>
            <a:ext cx="33832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8046720" y="6545580"/>
            <a:ext cx="33832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229600" y="30358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教学班级管理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8229600" y="3383280"/>
            <a:ext cx="3017520" cy="315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需求：同一课程可能有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多个教学班，每位教师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独立授课。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创建教学班级：关联课程、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教师、学期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学生分配：决定谁在哪个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班上课，影响成绩归属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为什么这样设计？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教学班级是成绩与学生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之间的桥梁，没有它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成绩就无法正确归属。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教务员界面设计（下）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计算监控与报告导出需求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4366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批量数据导入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需求：每学期数百条学生和课程数据，手动录入效率低且易出错。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设计：支持 Excel 模板上传，内置去重和校验逻辑，返回导入统计。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这是教务员日常使用频率最高的功能之一。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4366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成绩管理（锁定/解锁）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需求：成绩一旦锁定，教师不能随意修改，保证计算结果的可追溯性。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设计：教务员控制锁定状态，教师可发起解锁申请，教务员审批。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这是认证审计中数据完整性的重要保障。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52120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6271259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5876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达成度监控看板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3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需求：教务员需要在计算前确认所有支撑课程的数据就绪。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设计：集成 ECharts 环形图展示计算进度，按年级/专业筛选，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显示权重配置异常预警，支持一键触发专业级计算。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这是教务员从「数据管理」到「结果产出」的关键入口。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52120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6271259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5876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报告导出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3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需求：认证评审需要 PDF 格式的达成度报告，包含数据溯源。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设计：课程级报告（单门课程的达成度详情）和专业级穿透报告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（从毕业要求到指标点到课程到成绩的完整穿透）。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这是系统最终的产出物，直接服务于认证材料。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接口设计原则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为什么这样设计 API？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179820"/>
            <a:ext cx="33832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RESTful 统一规范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所有接口遵循 RESTful 风格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GET 查询 / POST 新增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PUT 修改 / DELETE 删除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统一返回格式：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{code, message, data}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统一分页参数：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pageNum, pageSize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为什么？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统一规范降低前后端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沟通成本，减少联调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时的格式歧义。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6179820"/>
            <a:ext cx="33832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权限控制策略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接口级：@PreAuthorize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注解控制角色访问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数据级：Controller 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获取当前用户身份，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按角色过滤可见数据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前端级：动态路由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根据角色生成菜单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为什么？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四角色系统必须严格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隔离权限，防止教师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看到其他教师的成绩。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6179820"/>
            <a:ext cx="33832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数据关联与校验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外键关联：课程→专业→学院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学生→班级→专业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教学班级→课程+教师+学期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级联校验：删除学院前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检查是否有专业引用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重量校验：课程权重之和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必须等于 1.0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为什么？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达成度计算依赖完整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的数据链，任何一环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缺失都会导致计算失败。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 altLang="en-US"/>
              <a:t>达成度监控</a:t>
            </a:r>
            <a:r>
              <a:t>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系统界面展示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785" y="1362075"/>
            <a:ext cx="9984105" cy="5052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成绩管理界面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系统界面展示</a:t>
            </a:r>
          </a:p>
        </p:txBody>
      </p:sp>
      <p:pic>
        <p:nvPicPr>
          <p:cNvPr id="5" name="Picture 4" descr="屏幕截图 2026-06-02 15303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" y="1325880"/>
            <a:ext cx="10698480" cy="47582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达成度计算结果与雷达图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系统界面展示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1178560"/>
            <a:ext cx="9779000" cy="55848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模块完成情况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全部模块已完成 100%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4008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模块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进度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基础架构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Spring Security + JWT 认证链、RBAC 权限模型、全局异常处理、CORS、MyBatis-Plus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模块 A — 基础数据与宏观管理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用户、学院、专业、学期、课程、学生、教学班级管理、批量数据导入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模块 B — 课程大纲与微观映射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课程目标设定、权重分配、考核点与目标映射（N:M）、考核题配置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模块 C — 成绩录入与计算触发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成绩导入、目标级计算（L1）、课程级计算（L2）、专业级计算（L3）、锁定/解锁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模块 D — 报表生成与导出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课程级报告（PDF）、专业级穿透报告（Excel+PDF）、ECharts 宏观看板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前端 — 管理员界面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用户管理、学院管理、专业管理、学期管理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前端 — 教务员界面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课程管理、学生管理、教学班级管理、成绩管理、看板、批量导入、报告导出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前端 — 专业负责人界面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毕业要求管理、宏观支撑矩阵、专业级计算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前端 — 主讲教师界面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课程目标设定、权重分配、考核点映射、成绩录入、课程级计算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开发难点概述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四大核心技术挑战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560320" cy="8229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难点一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三级达成度</a:t>
            </a:r>
            <a:br/>
            <a:r>
              <a:t>计算引擎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56032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N:M 映射、多粒度成绩计算</a:t>
            </a:r>
            <a:br/>
            <a:r>
              <a:t>Level 1→2→3 数据自下而上传导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554480"/>
            <a:ext cx="256032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难点二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JWT+RBAC</a:t>
            </a:r>
            <a:br/>
            <a:r>
              <a:t>认证授权链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37744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56032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四种角色权限控制、前后端</a:t>
            </a:r>
            <a:br/>
            <a:r>
              <a:t>动态路由、方法级权限校验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256032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难点三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Excel 批量</a:t>
            </a:r>
            <a:br/>
            <a:r>
              <a:t>导入与校验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7744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56032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多格式解析、数据校验、</a:t>
            </a:r>
            <a:br/>
            <a:r>
              <a:t>名称→ID 自动映射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554480"/>
            <a:ext cx="256032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难点四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7830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宏观看板</a:t>
            </a:r>
            <a:br/>
            <a:r>
              <a:t>数据聚合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377440"/>
            <a:ext cx="2560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56032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多维度数据聚合、ECharts</a:t>
            </a:r>
            <a:br/>
            <a:r>
              <a:t>可视化、响应式状态管理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难点一：三级达成度计算引擎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系统核心计算模型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9654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三级计算模型 — 数据自下而上严格传导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第一级（目标级）：C_ij 计算每个学生对每个课程目标的达成度，取全班均值 C_j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第二级（课程级）：E_k = Σ(C_j × w_jk)，需保证内部权重之和为 1.0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第三级（专业级）：G_k = Σ(E_k × W_c)，需保证宏观支撑权重之和为 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106984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622554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核心难点与解决方案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难点：一个考核点可以同时支撑多个课程目标（N:M 关系），成绩需正确分配到每个目标中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难点：当存在题目级（Question）评分时，需优先使用题目级成绩而非考核点级成绩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解决方案：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设计独立 engine 包，包含 Level1Calculator / Level2Calculator / Level3Calculator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使用 Map&lt;Long, List&lt;Long&gt;&gt; 存储 N:M 映射关系，避免只取首个匹配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两轮遍历策略：第一轮标记有题目覆盖的考核点，第二轮决定使用哪级成绩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Java Record 作为数据载体（StudentScoreRecord），保证计算过程的不可变性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难点二：Spring Security + JWT +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完整认证授权链路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9654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系统需支持四种不同角色，每种角色可访问的接口和页面完全不同。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需在后端实现无状态 JWT 认证、方法级权限控制，在前端实现动态路由生成和页面级权限校验。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52120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649986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后端方案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SecurityConfig：无状态会话管理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JwtAuthFilter：每次请求解析 Token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并注入 SecurityContext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@PreAuthorize 注解实现接口级权限控制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GlobalExceptionHandler：统一处理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认证失败和权限不足异常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权限校验统一放在 Controller 层，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避免同类内部调用绕过 AOP 代理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063240"/>
            <a:ext cx="52120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649986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72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前端方案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Pinia user Store 管理 Token 和角色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permission Store 根据角色动态生成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可访问路由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路由守卫 beforeEach 每次导航时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校验权限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未授权自动跳转 403 页面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角色切换时先清除旧路由表再重新生成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难点三 &amp; 难点四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Excel 批量导入 · 宏观看板数据聚合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1798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难点三：Excel 批量导入多格式解析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挑战：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多种 Excel 模板，字段不同、校验规则不同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需处理学院/专业名称到 ID 的映射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解决方案：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统一 BatchImportController，每种数据类型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独立解析方法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Apache POI WorkbookFactory 自动识别格式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预加载名称-ID 映射表实现文本→外键转换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重复数据跳过，返回详细统计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（imported / skipped / total）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61798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难点四：宏观看板多维度数据聚合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挑战：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按年级、专业维度聚合数据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展示课程计算进度、权重校验、达成度状态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解决方案：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GlobalCalcService DashboardData 聚合对象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一次性返回计算进度、权重校验状态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等完整数据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前端 ECharts 环形图 + el-progress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Vue computed 实现响应式状态判断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图表 resize 监听窗口自适应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1828800"/>
            <a:ext cx="6705295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10312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606040"/>
            <a:ext cx="6705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疑难 Bug 与解决方案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794760"/>
            <a:ext cx="21332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1148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关键 Bug 排查 · 解决方案 · 经验总结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Bug 1 &amp; Bug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JWT Token 过期静默失败 · Excel 数值型读取异常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179820"/>
            <a:ext cx="52120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Bug 1：JWT Token 过期后前端请求静默失败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问题：用户长时间不操作后 Token 过期，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API 返回 401 但页面无任何错误提示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排查：Axios 响应拦截器未对 401 做处理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解决：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响应拦截器增加 401 全局处理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自动清除 Token 并跳转登录页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请求拦截器增加 Token 有效性预检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6179820"/>
            <a:ext cx="52120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Bug 2：Excel CellType 强制转换导致数值异常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问题：入学年份（如 2024）读取后变为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科学计数法 "2.024E3"，parseInt 失败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排查：新版 POI 中 setCellType(STRING)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行为已变更，不再自动格式化转换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解决：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getCellStr 按 Cell 类型分别处理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数值型用 getNumericCellValue()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入学年份用 Double.parseDouble() 转 int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Bug 3 &amp; Bug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N:M 映射计算偏差 · 路由守卫无限循环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179820"/>
            <a:ext cx="52120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Bug 3：考核点多目标绑定时计算结果偏差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问题：考核点绑定两个目标时，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成绩只计入其中一个目标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排查：映射查找只匹配了第一个目标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解决：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重构为 Map&lt;Long, List&lt;Long&gt;&gt; 存储 N:M 关系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contains(objectiveId) 判断匹配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两轮遍历策略避免重复计入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（标记 questionedAssessments）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6179820"/>
            <a:ext cx="52120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Bug 4：前端路由守卫无限重定向循环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问题：角色切换后访问页面陷入无限循环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控制台报 "Maximum recursive updates"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排查：generateRoutes 每次跳转都重新生成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路由表且未去重；/403 路由 meta 不正确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解决：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增加 routesGenerated 去重标记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/403 和 /login 添加 meta: { public: true }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角色切换时先清除旧路由表再重新生成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Bug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@PreAuthorize 注解在同类方法调用时不生效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979420"/>
            <a:ext cx="106984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问题描述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UserController 中的 delete 方法调用 userService.hardDeleteUser()，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在 UserService 内部方法间调用时 @PreAuthorize 注解未生效，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导致普通用户可绕过权限校验执行删除操作。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46120"/>
            <a:ext cx="10698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39674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5584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排查过程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Spring AOP 代理经典问题。@PreAuthorize 基于 AOP 代理实现，同类内部方法调用不经过代理对象，注解不会被拦截处理。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6271260"/>
            <a:ext cx="106984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731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解决方案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将权限校验统一放在 Controller 层，Service 层专注业务逻辑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需要 Service 层二次校验时，通过 SecurityContextHolder 获取当前用户身份显式校验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为 delete 接口增加自删除保护，防止管理员误删自己的账号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Bug 解决方案总结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五个关键 Bug 的经验启示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56692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Bug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核心经验</a:t>
                      </a:r>
                    </a:p>
                  </a:txBody>
                  <a:tcPr anchor="ctr">
                    <a:solidFill>
                      <a:srgbClr val="2B57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JWT Token 过期静默失败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认证与会话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响应拦截器必须覆盖所有错误码，尤其是 401/403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Excel 数值型读取异常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数据导入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注意第三方库版本变更，按 Cell 类型分别处理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N:M 映射计算偏差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业务逻辑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多对多关系需用 List 结构存储，避免只取首个匹配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路由守卫无限循环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前端路由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动态路由需去重标记，公共路由需跳过权限校验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AOP 代理权限失效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权限控制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同类内部调用不走代理，权限校验应放在 Controller 层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1828800"/>
            <a:ext cx="6705295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10312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606040"/>
            <a:ext cx="6705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PR-Agent 介绍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794760"/>
            <a:ext cx="21332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1148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AI 驱动的代码审查工具 · 提升代码质量与团队协作效率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PR-Agent 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AI-Powered Pull Request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1798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什么是 PR-Agent？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PR-Agent 是由 Qodo（原 CodiumAI）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开发的开源 AI 代码审查工具。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它通过大语言模型（LLM）自动分析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Pull Request 的代码变更，提供：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自动化代码审查与问题发现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智能 PR 描述生成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代码改进建议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安全漏洞扫描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支持 GitHub、GitLab、Bitbucket，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可通过 CLI / GitHub Action / Webhook 集成。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61798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核心优势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开源免费：GitHub 上完全开源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https://github.com/qodo-ai/pr-agent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多模型支持：GPT-4、Claude、本地模型等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多平台集成：GitHub / GitLab / Bitbucket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灵活部署：支持云端和自托管两种模式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可配置性强：通过 .pr_agent.toml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自定义审查规则和行为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IDE 插件：VS Code / JetBrains 集成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PR-Agent 核心命令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六大功能指令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029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/review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自动化代码审查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分析代码变更，发现 Bug、</a:t>
            </a:r>
            <a:br/>
            <a:r>
              <a:t>安全问题、代码风格问题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4747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/describe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PR 描述自动生成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自动生成 PR 标题、摘要、</a:t>
            </a:r>
            <a:br/>
            <a:r>
              <a:t>变更类型和代码走读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4747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/improve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代码改进建议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提供重构、最佳实践、</a:t>
            </a:r>
            <a:br/>
            <a:r>
              <a:t>性能优化的具体建议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34747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/ask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代码问答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对 PR 中的代码提出问题</a:t>
            </a:r>
            <a:br/>
            <a:r>
              <a:t>获取 AI 解答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402336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4023360"/>
            <a:ext cx="34747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4069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/reflect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19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审查再审查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19" y="50292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对审查结果进行二次评估，</a:t>
            </a:r>
            <a:br/>
            <a:r>
              <a:t>确保审查质量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02336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4023360"/>
            <a:ext cx="3474720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069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/analyze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静态分析概览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292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提供代码变更的静态分析</a:t>
            </a:r>
            <a:br/>
            <a:r>
              <a:t>总览与风险评估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配置与集成方式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灵活部署，适配不同团队需求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1798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配置文件 .pr_agent.toml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[pr_agent]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model = "gpt-4"  # 或 claude 等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model_turbo = "gpt-3.5-turbo"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[pr_reviewer]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require_score_review = true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require_security_review = true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require_focused_review = false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[pr_code_suggestions]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num_code_suggestions = 4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支持环境变量覆盖配置，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也可通过 CLI 参数动态指定。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61798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集成方式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GitHub App（推荐）：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安装后自动审查所有 PR，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通过评论 /review 等命令触发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GitHub Action：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在 .github/workflows 中配置，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PR 创建/更新时自动触发审查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CLI 命令行：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pr-agent --pr_url &lt;URL&gt; --commands &lt;CMD&gt;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适合本地开发和 CI 流水线集成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Webhook / GitLab / Bitbucket：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  通过 Webhook 接入其他 Git 平台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在本项目中的应用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毕业要求达成度计算平台的代码质量保障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345180"/>
            <a:ext cx="106984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使用场景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每次提交 PR 时，PR-Agent 自动触发 /review 和 /describe，生成代码审查报告和 PR 描述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通过 /improve 命令发现潜在的代码优化点，如：Spring Security 配置优化、MyBatis 查询性能建议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使用 /ask 命令对复杂业务逻辑（如三级达成度计算）进行代码解读和知识传递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52120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61798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实际效果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代码审查效率提升：自动发现代码风格、潜在 Bug 和安全问题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PR 描述规范化：自动生成的描述包含变更摘要和影响范围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团队协作改善：新成员可通过 /ask 快速理解复杂模块代码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代码质量持续提升：每次 PR 都有 AI 辅助的改进建议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2120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6179820"/>
            <a:ext cx="5212080" cy="381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67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优势与价值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降低 Code Review 负担：AI 处理基础审查，人工聚焦架构决策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知识沉淀：审查记录可追溯，形成团队编码规范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安全兜底：自动扫描 SQL 注入、XSS 等常见安全漏洞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开源成本低：无需额外付费，本地 LLM 模型亦可使用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1828800"/>
            <a:ext cx="6705295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10312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606040"/>
            <a:ext cx="6705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B579A"/>
                </a:solidFill>
                <a:latin typeface="微软雅黑" panose="020B0503020204020204" charset="-122"/>
              </a:defRPr>
            </a:pPr>
            <a:r>
              <a:t>项目展示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794760"/>
            <a:ext cx="213329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1148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系统界面演示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2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3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4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5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6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7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8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9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10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11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ags/tag12.xml><?xml version="1.0" encoding="utf-8"?>
<p:tagLst xmlns:p="http://schemas.openxmlformats.org/presentationml/2006/main">
  <p:tag name="KSO_WM_DIAGRAM_VIRTUALLY_FRAME" val="{&quot;height&quot;:288,&quot;left&quot;:57.6,&quot;top&quot;:230.4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8360</Words>
  <Application>WPS 演示</Application>
  <PresentationFormat>On-screen Show (4:3)</PresentationFormat>
  <Paragraphs>812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晨起风云</cp:lastModifiedBy>
  <cp:revision>7</cp:revision>
  <dcterms:created xsi:type="dcterms:W3CDTF">2013-01-27T09:14:00Z</dcterms:created>
  <dcterms:modified xsi:type="dcterms:W3CDTF">2026-06-03T06:09:51Z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B44B7A2AAC914CD696764156920F0610_12</vt:lpwstr>
  </property>
  <property fmtid="{D5CDD505-2E9C-101B-9397-08002B2CF9AE}" pid="3" name="KSOProductBuildVer">
    <vt:lpwstr>2052-12.1.0.26375</vt:lpwstr>
  </property>
</Properties>
</file>